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2"/>
  </p:notesMasterIdLst>
  <p:sldIdLst>
    <p:sldId id="530" r:id="rId5"/>
    <p:sldId id="531" r:id="rId6"/>
    <p:sldId id="533" r:id="rId7"/>
    <p:sldId id="534" r:id="rId8"/>
    <p:sldId id="547" r:id="rId9"/>
    <p:sldId id="549" r:id="rId10"/>
    <p:sldId id="552" r:id="rId11"/>
    <p:sldId id="551" r:id="rId12"/>
    <p:sldId id="554" r:id="rId13"/>
    <p:sldId id="555" r:id="rId14"/>
    <p:sldId id="556" r:id="rId15"/>
    <p:sldId id="557" r:id="rId16"/>
    <p:sldId id="558" r:id="rId17"/>
    <p:sldId id="548" r:id="rId18"/>
    <p:sldId id="550" r:id="rId19"/>
    <p:sldId id="553" r:id="rId20"/>
    <p:sldId id="544" r:id="rId21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22"/>
  </p:normalViewPr>
  <p:slideViewPr>
    <p:cSldViewPr snapToGrid="0">
      <p:cViewPr varScale="1">
        <p:scale>
          <a:sx n="82" d="100"/>
          <a:sy n="82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54ADBC-6A24-4514-B753-24AFFD612F1C}" type="doc">
      <dgm:prSet loTypeId="urn:microsoft.com/office/officeart/2005/8/layout/process1" loCatId="process" qsTypeId="urn:microsoft.com/office/officeart/2005/8/quickstyle/simple2" qsCatId="simple" csTypeId="urn:microsoft.com/office/officeart/2005/8/colors/accent4_4" csCatId="accent4" phldr="1"/>
      <dgm:spPr/>
    </dgm:pt>
    <dgm:pt modelId="{2705B6AB-0DF3-42F0-8902-95EA03516D93}">
      <dgm:prSet phldrT="[Texto]"/>
      <dgm:spPr/>
      <dgm:t>
        <a:bodyPr/>
        <a:lstStyle/>
        <a:p>
          <a:r>
            <a:rPr lang="es-ES" dirty="0" err="1" smtClean="0"/>
            <a:t>Agregated</a:t>
          </a:r>
          <a:r>
            <a:rPr lang="es-ES" dirty="0" smtClean="0"/>
            <a:t> </a:t>
          </a:r>
          <a:r>
            <a:rPr lang="es-ES" dirty="0" err="1" smtClean="0"/>
            <a:t>Market</a:t>
          </a:r>
          <a:r>
            <a:rPr lang="es-ES" dirty="0" smtClean="0"/>
            <a:t> Data)</a:t>
          </a:r>
          <a:endParaRPr lang="es-CL" dirty="0"/>
        </a:p>
      </dgm:t>
    </dgm:pt>
    <dgm:pt modelId="{7351E623-2A9A-4AC4-BBD8-111DBB5625B7}" type="parTrans" cxnId="{F6BA32C5-629A-48FE-8774-4648002E8691}">
      <dgm:prSet/>
      <dgm:spPr/>
      <dgm:t>
        <a:bodyPr/>
        <a:lstStyle/>
        <a:p>
          <a:endParaRPr lang="es-CL"/>
        </a:p>
      </dgm:t>
    </dgm:pt>
    <dgm:pt modelId="{CDA5DCFC-9476-40D6-B53E-CA115647DCFB}" type="sibTrans" cxnId="{F6BA32C5-629A-48FE-8774-4648002E8691}">
      <dgm:prSet/>
      <dgm:spPr/>
      <dgm:t>
        <a:bodyPr/>
        <a:lstStyle/>
        <a:p>
          <a:endParaRPr lang="es-CL"/>
        </a:p>
      </dgm:t>
    </dgm:pt>
    <dgm:pt modelId="{FA7E8E40-E04C-4382-A51F-44742029B067}">
      <dgm:prSet phldrT="[Texto]" custT="1"/>
      <dgm:spPr/>
      <dgm:t>
        <a:bodyPr/>
        <a:lstStyle/>
        <a:p>
          <a:r>
            <a:rPr lang="es-ES" sz="2000" dirty="0" err="1" smtClean="0"/>
            <a:t>Algorithm</a:t>
          </a:r>
          <a:r>
            <a:rPr lang="es-ES" sz="2000" dirty="0" smtClean="0"/>
            <a:t> (</a:t>
          </a:r>
          <a:r>
            <a:rPr lang="es-ES" sz="2000" dirty="0" err="1" smtClean="0"/>
            <a:t>Selected</a:t>
          </a:r>
          <a:r>
            <a:rPr lang="es-ES" sz="2000" dirty="0" smtClean="0"/>
            <a:t> </a:t>
          </a:r>
          <a:r>
            <a:rPr lang="es-ES" sz="2000" dirty="0" err="1" smtClean="0"/>
            <a:t>Indicator</a:t>
          </a:r>
          <a:r>
            <a:rPr lang="es-ES" sz="2000" dirty="0" smtClean="0"/>
            <a:t>)</a:t>
          </a:r>
          <a:r>
            <a:rPr lang="es-CL" sz="2000" dirty="0" smtClean="0"/>
            <a:t> </a:t>
          </a:r>
          <a:endParaRPr lang="es-CL" sz="2000" dirty="0"/>
        </a:p>
      </dgm:t>
    </dgm:pt>
    <dgm:pt modelId="{886B1210-3EBD-4C9A-8A81-5C4C8C0E6915}" type="parTrans" cxnId="{2F847CAC-7099-43E4-899E-B6018B9DA20A}">
      <dgm:prSet/>
      <dgm:spPr/>
      <dgm:t>
        <a:bodyPr/>
        <a:lstStyle/>
        <a:p>
          <a:endParaRPr lang="es-CL"/>
        </a:p>
      </dgm:t>
    </dgm:pt>
    <dgm:pt modelId="{734E7340-7041-4F18-A02E-DE89D5988942}" type="sibTrans" cxnId="{2F847CAC-7099-43E4-899E-B6018B9DA20A}">
      <dgm:prSet/>
      <dgm:spPr/>
      <dgm:t>
        <a:bodyPr/>
        <a:lstStyle/>
        <a:p>
          <a:endParaRPr lang="es-CL"/>
        </a:p>
      </dgm:t>
    </dgm:pt>
    <dgm:pt modelId="{D2841CE3-B4F2-4B18-AF9B-F6021D7116C8}">
      <dgm:prSet phldrT="[Texto]"/>
      <dgm:spPr/>
      <dgm:t>
        <a:bodyPr/>
        <a:lstStyle/>
        <a:p>
          <a:r>
            <a:rPr lang="es-ES" dirty="0" err="1" smtClean="0"/>
            <a:t>Graphic</a:t>
          </a:r>
          <a:r>
            <a:rPr lang="es-ES" dirty="0" smtClean="0"/>
            <a:t> Output Resume</a:t>
          </a:r>
          <a:endParaRPr lang="es-CL" dirty="0"/>
        </a:p>
      </dgm:t>
    </dgm:pt>
    <dgm:pt modelId="{32B0366E-DAE8-48DC-B6FB-C41D93FD0EB8}" type="parTrans" cxnId="{65D25158-9F41-4D62-9E9A-5215D12B4257}">
      <dgm:prSet/>
      <dgm:spPr/>
      <dgm:t>
        <a:bodyPr/>
        <a:lstStyle/>
        <a:p>
          <a:endParaRPr lang="es-CL"/>
        </a:p>
      </dgm:t>
    </dgm:pt>
    <dgm:pt modelId="{88AA162E-DCD2-4C64-B71B-24796C4E3127}" type="sibTrans" cxnId="{65D25158-9F41-4D62-9E9A-5215D12B4257}">
      <dgm:prSet/>
      <dgm:spPr/>
      <dgm:t>
        <a:bodyPr/>
        <a:lstStyle/>
        <a:p>
          <a:endParaRPr lang="es-CL"/>
        </a:p>
      </dgm:t>
    </dgm:pt>
    <dgm:pt modelId="{8BDBD512-9DC0-47BA-BBBE-510CA52E0C88}" type="pres">
      <dgm:prSet presAssocID="{8D54ADBC-6A24-4514-B753-24AFFD612F1C}" presName="Name0" presStyleCnt="0">
        <dgm:presLayoutVars>
          <dgm:dir/>
          <dgm:resizeHandles val="exact"/>
        </dgm:presLayoutVars>
      </dgm:prSet>
      <dgm:spPr/>
    </dgm:pt>
    <dgm:pt modelId="{C0F4F3E0-6180-4DA0-A837-FADFD6980F60}" type="pres">
      <dgm:prSet presAssocID="{2705B6AB-0DF3-42F0-8902-95EA03516D93}" presName="node" presStyleLbl="node1" presStyleIdx="0" presStyleCnt="3" custLinFactNeighborX="-39663" custLinFactNeighborY="868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F3B03225-49DB-43AF-A399-1436284E0153}" type="pres">
      <dgm:prSet presAssocID="{CDA5DCFC-9476-40D6-B53E-CA115647DCFB}" presName="sibTrans" presStyleLbl="sibTrans2D1" presStyleIdx="0" presStyleCnt="2"/>
      <dgm:spPr/>
      <dgm:t>
        <a:bodyPr/>
        <a:lstStyle/>
        <a:p>
          <a:endParaRPr lang="es-CL"/>
        </a:p>
      </dgm:t>
    </dgm:pt>
    <dgm:pt modelId="{6D45D153-D391-46D1-BBFE-943085289FB1}" type="pres">
      <dgm:prSet presAssocID="{CDA5DCFC-9476-40D6-B53E-CA115647DCFB}" presName="connectorText" presStyleLbl="sibTrans2D1" presStyleIdx="0" presStyleCnt="2"/>
      <dgm:spPr/>
      <dgm:t>
        <a:bodyPr/>
        <a:lstStyle/>
        <a:p>
          <a:endParaRPr lang="es-CL"/>
        </a:p>
      </dgm:t>
    </dgm:pt>
    <dgm:pt modelId="{2A911DDB-DFF5-40C5-BD46-016D4F1F75C5}" type="pres">
      <dgm:prSet presAssocID="{FA7E8E40-E04C-4382-A51F-44742029B06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65FFB2B5-0FF1-4114-8419-85ADB5AE1AB1}" type="pres">
      <dgm:prSet presAssocID="{734E7340-7041-4F18-A02E-DE89D5988942}" presName="sibTrans" presStyleLbl="sibTrans2D1" presStyleIdx="1" presStyleCnt="2"/>
      <dgm:spPr/>
      <dgm:t>
        <a:bodyPr/>
        <a:lstStyle/>
        <a:p>
          <a:endParaRPr lang="es-CL"/>
        </a:p>
      </dgm:t>
    </dgm:pt>
    <dgm:pt modelId="{8627DD18-E898-4B6F-8771-445922B103F9}" type="pres">
      <dgm:prSet presAssocID="{734E7340-7041-4F18-A02E-DE89D5988942}" presName="connectorText" presStyleLbl="sibTrans2D1" presStyleIdx="1" presStyleCnt="2"/>
      <dgm:spPr/>
      <dgm:t>
        <a:bodyPr/>
        <a:lstStyle/>
        <a:p>
          <a:endParaRPr lang="es-CL"/>
        </a:p>
      </dgm:t>
    </dgm:pt>
    <dgm:pt modelId="{79A59047-CA97-4222-A609-F497A576A305}" type="pres">
      <dgm:prSet presAssocID="{D2841CE3-B4F2-4B18-AF9B-F6021D7116C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</dgm:ptLst>
  <dgm:cxnLst>
    <dgm:cxn modelId="{9DDD57D3-9B33-4378-A0E7-5FE7DC50F57D}" type="presOf" srcId="{CDA5DCFC-9476-40D6-B53E-CA115647DCFB}" destId="{F3B03225-49DB-43AF-A399-1436284E0153}" srcOrd="0" destOrd="0" presId="urn:microsoft.com/office/officeart/2005/8/layout/process1"/>
    <dgm:cxn modelId="{3F342D10-8706-49BB-A0D6-0E3ABB4B07C1}" type="presOf" srcId="{2705B6AB-0DF3-42F0-8902-95EA03516D93}" destId="{C0F4F3E0-6180-4DA0-A837-FADFD6980F60}" srcOrd="0" destOrd="0" presId="urn:microsoft.com/office/officeart/2005/8/layout/process1"/>
    <dgm:cxn modelId="{F6BA32C5-629A-48FE-8774-4648002E8691}" srcId="{8D54ADBC-6A24-4514-B753-24AFFD612F1C}" destId="{2705B6AB-0DF3-42F0-8902-95EA03516D93}" srcOrd="0" destOrd="0" parTransId="{7351E623-2A9A-4AC4-BBD8-111DBB5625B7}" sibTransId="{CDA5DCFC-9476-40D6-B53E-CA115647DCFB}"/>
    <dgm:cxn modelId="{70F09261-A87B-4434-A704-8D89BB09C74A}" type="presOf" srcId="{734E7340-7041-4F18-A02E-DE89D5988942}" destId="{65FFB2B5-0FF1-4114-8419-85ADB5AE1AB1}" srcOrd="0" destOrd="0" presId="urn:microsoft.com/office/officeart/2005/8/layout/process1"/>
    <dgm:cxn modelId="{A72350FF-DA52-4E19-BCC9-1B33ACF04A1A}" type="presOf" srcId="{734E7340-7041-4F18-A02E-DE89D5988942}" destId="{8627DD18-E898-4B6F-8771-445922B103F9}" srcOrd="1" destOrd="0" presId="urn:microsoft.com/office/officeart/2005/8/layout/process1"/>
    <dgm:cxn modelId="{78E9DF7F-7ED0-420D-90D8-27D14029FFD7}" type="presOf" srcId="{FA7E8E40-E04C-4382-A51F-44742029B067}" destId="{2A911DDB-DFF5-40C5-BD46-016D4F1F75C5}" srcOrd="0" destOrd="0" presId="urn:microsoft.com/office/officeart/2005/8/layout/process1"/>
    <dgm:cxn modelId="{BDC75151-FA1A-41A2-AFC4-E733C54286AC}" type="presOf" srcId="{8D54ADBC-6A24-4514-B753-24AFFD612F1C}" destId="{8BDBD512-9DC0-47BA-BBBE-510CA52E0C88}" srcOrd="0" destOrd="0" presId="urn:microsoft.com/office/officeart/2005/8/layout/process1"/>
    <dgm:cxn modelId="{6A33588D-0BF1-49C9-8904-E38CE185978E}" type="presOf" srcId="{D2841CE3-B4F2-4B18-AF9B-F6021D7116C8}" destId="{79A59047-CA97-4222-A609-F497A576A305}" srcOrd="0" destOrd="0" presId="urn:microsoft.com/office/officeart/2005/8/layout/process1"/>
    <dgm:cxn modelId="{2F847CAC-7099-43E4-899E-B6018B9DA20A}" srcId="{8D54ADBC-6A24-4514-B753-24AFFD612F1C}" destId="{FA7E8E40-E04C-4382-A51F-44742029B067}" srcOrd="1" destOrd="0" parTransId="{886B1210-3EBD-4C9A-8A81-5C4C8C0E6915}" sibTransId="{734E7340-7041-4F18-A02E-DE89D5988942}"/>
    <dgm:cxn modelId="{65D25158-9F41-4D62-9E9A-5215D12B4257}" srcId="{8D54ADBC-6A24-4514-B753-24AFFD612F1C}" destId="{D2841CE3-B4F2-4B18-AF9B-F6021D7116C8}" srcOrd="2" destOrd="0" parTransId="{32B0366E-DAE8-48DC-B6FB-C41D93FD0EB8}" sibTransId="{88AA162E-DCD2-4C64-B71B-24796C4E3127}"/>
    <dgm:cxn modelId="{53BB9747-AC85-4553-AB10-DB7B0323B606}" type="presOf" srcId="{CDA5DCFC-9476-40D6-B53E-CA115647DCFB}" destId="{6D45D153-D391-46D1-BBFE-943085289FB1}" srcOrd="1" destOrd="0" presId="urn:microsoft.com/office/officeart/2005/8/layout/process1"/>
    <dgm:cxn modelId="{90057773-5C28-4A0F-9988-F7072B438ED9}" type="presParOf" srcId="{8BDBD512-9DC0-47BA-BBBE-510CA52E0C88}" destId="{C0F4F3E0-6180-4DA0-A837-FADFD6980F60}" srcOrd="0" destOrd="0" presId="urn:microsoft.com/office/officeart/2005/8/layout/process1"/>
    <dgm:cxn modelId="{3DE4F39C-F550-4F39-84C1-8D977708D04A}" type="presParOf" srcId="{8BDBD512-9DC0-47BA-BBBE-510CA52E0C88}" destId="{F3B03225-49DB-43AF-A399-1436284E0153}" srcOrd="1" destOrd="0" presId="urn:microsoft.com/office/officeart/2005/8/layout/process1"/>
    <dgm:cxn modelId="{5F61B65F-25EB-4BF0-A87D-68551CAFC438}" type="presParOf" srcId="{F3B03225-49DB-43AF-A399-1436284E0153}" destId="{6D45D153-D391-46D1-BBFE-943085289FB1}" srcOrd="0" destOrd="0" presId="urn:microsoft.com/office/officeart/2005/8/layout/process1"/>
    <dgm:cxn modelId="{B86B1975-53FB-40AE-AEE0-F309CF65B033}" type="presParOf" srcId="{8BDBD512-9DC0-47BA-BBBE-510CA52E0C88}" destId="{2A911DDB-DFF5-40C5-BD46-016D4F1F75C5}" srcOrd="2" destOrd="0" presId="urn:microsoft.com/office/officeart/2005/8/layout/process1"/>
    <dgm:cxn modelId="{41E411E6-00D9-41F9-A5FA-7CF8F4CA6A5D}" type="presParOf" srcId="{8BDBD512-9DC0-47BA-BBBE-510CA52E0C88}" destId="{65FFB2B5-0FF1-4114-8419-85ADB5AE1AB1}" srcOrd="3" destOrd="0" presId="urn:microsoft.com/office/officeart/2005/8/layout/process1"/>
    <dgm:cxn modelId="{1E2003DF-036C-4E53-AADC-E435B1379FB2}" type="presParOf" srcId="{65FFB2B5-0FF1-4114-8419-85ADB5AE1AB1}" destId="{8627DD18-E898-4B6F-8771-445922B103F9}" srcOrd="0" destOrd="0" presId="urn:microsoft.com/office/officeart/2005/8/layout/process1"/>
    <dgm:cxn modelId="{32D1B5FD-74CF-49D2-94E1-A3E7FCE57BDA}" type="presParOf" srcId="{8BDBD512-9DC0-47BA-BBBE-510CA52E0C88}" destId="{79A59047-CA97-4222-A609-F497A576A30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4F3E0-6180-4DA0-A837-FADFD6980F60}">
      <dsp:nvSpPr>
        <dsp:cNvPr id="0" name=""/>
        <dsp:cNvSpPr/>
      </dsp:nvSpPr>
      <dsp:spPr>
        <a:xfrm>
          <a:off x="0" y="274546"/>
          <a:ext cx="2222442" cy="1333465"/>
        </a:xfrm>
        <a:prstGeom prst="roundRect">
          <a:avLst>
            <a:gd name="adj" fmla="val 10000"/>
          </a:avLst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err="1" smtClean="0"/>
            <a:t>Agregated</a:t>
          </a:r>
          <a:r>
            <a:rPr lang="es-ES" sz="2300" kern="1200" dirty="0" smtClean="0"/>
            <a:t> </a:t>
          </a:r>
          <a:r>
            <a:rPr lang="es-ES" sz="2300" kern="1200" dirty="0" err="1" smtClean="0"/>
            <a:t>Market</a:t>
          </a:r>
          <a:r>
            <a:rPr lang="es-ES" sz="2300" kern="1200" dirty="0" smtClean="0"/>
            <a:t> Data)</a:t>
          </a:r>
          <a:endParaRPr lang="es-CL" sz="2300" kern="1200" dirty="0"/>
        </a:p>
      </dsp:txBody>
      <dsp:txXfrm>
        <a:off x="39056" y="313602"/>
        <a:ext cx="2144330" cy="1255353"/>
      </dsp:txXfrm>
    </dsp:sp>
    <dsp:sp modelId="{F3B03225-49DB-43AF-A399-1436284E0153}">
      <dsp:nvSpPr>
        <dsp:cNvPr id="0" name=""/>
        <dsp:cNvSpPr/>
      </dsp:nvSpPr>
      <dsp:spPr>
        <a:xfrm rot="21587242">
          <a:off x="2446544" y="659859"/>
          <a:ext cx="475102" cy="551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1900" kern="1200"/>
        </a:p>
      </dsp:txBody>
      <dsp:txXfrm>
        <a:off x="2446544" y="770356"/>
        <a:ext cx="332571" cy="330699"/>
      </dsp:txXfrm>
    </dsp:sp>
    <dsp:sp modelId="{2A911DDB-DFF5-40C5-BD46-016D4F1F75C5}">
      <dsp:nvSpPr>
        <dsp:cNvPr id="0" name=""/>
        <dsp:cNvSpPr/>
      </dsp:nvSpPr>
      <dsp:spPr>
        <a:xfrm>
          <a:off x="3118855" y="262972"/>
          <a:ext cx="2222442" cy="1333465"/>
        </a:xfrm>
        <a:prstGeom prst="roundRect">
          <a:avLst>
            <a:gd name="adj" fmla="val 10000"/>
          </a:avLst>
        </a:prstGeom>
        <a:solidFill>
          <a:schemeClr val="accent4">
            <a:shade val="50000"/>
            <a:hueOff val="-34694"/>
            <a:satOff val="29823"/>
            <a:lumOff val="202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err="1" smtClean="0"/>
            <a:t>Algorithm</a:t>
          </a:r>
          <a:r>
            <a:rPr lang="es-ES" sz="2000" kern="1200" dirty="0" smtClean="0"/>
            <a:t> (</a:t>
          </a:r>
          <a:r>
            <a:rPr lang="es-ES" sz="2000" kern="1200" dirty="0" err="1" smtClean="0"/>
            <a:t>Selected</a:t>
          </a:r>
          <a:r>
            <a:rPr lang="es-ES" sz="2000" kern="1200" dirty="0" smtClean="0"/>
            <a:t> </a:t>
          </a:r>
          <a:r>
            <a:rPr lang="es-ES" sz="2000" kern="1200" dirty="0" err="1" smtClean="0"/>
            <a:t>Indicator</a:t>
          </a:r>
          <a:r>
            <a:rPr lang="es-ES" sz="2000" kern="1200" dirty="0" smtClean="0"/>
            <a:t>)</a:t>
          </a:r>
          <a:r>
            <a:rPr lang="es-CL" sz="2000" kern="1200" dirty="0" smtClean="0"/>
            <a:t> </a:t>
          </a:r>
          <a:endParaRPr lang="es-CL" sz="2000" kern="1200" dirty="0"/>
        </a:p>
      </dsp:txBody>
      <dsp:txXfrm>
        <a:off x="3157911" y="302028"/>
        <a:ext cx="2144330" cy="1255353"/>
      </dsp:txXfrm>
    </dsp:sp>
    <dsp:sp modelId="{65FFB2B5-0FF1-4114-8419-85ADB5AE1AB1}">
      <dsp:nvSpPr>
        <dsp:cNvPr id="0" name=""/>
        <dsp:cNvSpPr/>
      </dsp:nvSpPr>
      <dsp:spPr>
        <a:xfrm>
          <a:off x="5563542" y="654122"/>
          <a:ext cx="471157" cy="551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-56520"/>
            <a:satOff val="12974"/>
            <a:lumOff val="127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1900" kern="1200"/>
        </a:p>
      </dsp:txBody>
      <dsp:txXfrm>
        <a:off x="5563542" y="764355"/>
        <a:ext cx="329810" cy="330699"/>
      </dsp:txXfrm>
    </dsp:sp>
    <dsp:sp modelId="{79A59047-CA97-4222-A609-F497A576A305}">
      <dsp:nvSpPr>
        <dsp:cNvPr id="0" name=""/>
        <dsp:cNvSpPr/>
      </dsp:nvSpPr>
      <dsp:spPr>
        <a:xfrm>
          <a:off x="6230275" y="262972"/>
          <a:ext cx="2222442" cy="1333465"/>
        </a:xfrm>
        <a:prstGeom prst="roundRect">
          <a:avLst>
            <a:gd name="adj" fmla="val 10000"/>
          </a:avLst>
        </a:prstGeom>
        <a:solidFill>
          <a:schemeClr val="accent4">
            <a:shade val="50000"/>
            <a:hueOff val="-34694"/>
            <a:satOff val="29823"/>
            <a:lumOff val="202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err="1" smtClean="0"/>
            <a:t>Graphic</a:t>
          </a:r>
          <a:r>
            <a:rPr lang="es-ES" sz="2300" kern="1200" dirty="0" smtClean="0"/>
            <a:t> Output Resume</a:t>
          </a:r>
          <a:endParaRPr lang="es-CL" sz="2300" kern="1200" dirty="0"/>
        </a:p>
      </dsp:txBody>
      <dsp:txXfrm>
        <a:off x="6269331" y="302028"/>
        <a:ext cx="2144330" cy="1255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F00BCFC-AFFD-334C-A183-6116BAFDF92B}" type="datetimeFigureOut">
              <a:rPr lang="en-US" smtClean="0"/>
              <a:t>7/21/2025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3C058E0-0852-DB43-83D6-BD76659FF1D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=""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=""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=""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=""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=""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=""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=""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=""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=""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=""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=""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=""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=""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=""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=""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=""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=""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=""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=""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=""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=""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=""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=""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=""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=""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=""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=""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=""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=""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=""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=""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=""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=""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=""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=""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=""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=""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=""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=""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=""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=""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=""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=""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=""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=""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=""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=""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=""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=""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=""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=""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=""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=""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=""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=""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=""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=""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=""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=""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=""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=""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=""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=""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=""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=""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=""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=""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=""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=""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=""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=""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=""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=""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=""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=""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=""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=""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=""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=""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=""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=""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=""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=""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=""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=""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=""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=""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=""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=""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=""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=""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=""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=""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=""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=""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=""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=""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243" y="816295"/>
            <a:ext cx="9921240" cy="3884041"/>
          </a:xfrm>
        </p:spPr>
        <p:txBody>
          <a:bodyPr/>
          <a:lstStyle/>
          <a:p>
            <a:r>
              <a:rPr lang="es-CL" dirty="0" err="1"/>
              <a:t>Graphic</a:t>
            </a:r>
            <a:r>
              <a:rPr lang="es-CL" dirty="0"/>
              <a:t> </a:t>
            </a:r>
            <a:r>
              <a:rPr lang="es-CL" dirty="0" err="1"/>
              <a:t>Crypto</a:t>
            </a:r>
            <a:r>
              <a:rPr lang="es-CL" dirty="0"/>
              <a:t> </a:t>
            </a:r>
            <a:r>
              <a:rPr lang="es-CL" dirty="0" err="1" smtClean="0"/>
              <a:t>Screener</a:t>
            </a:r>
            <a:r>
              <a:rPr lang="es-CL" sz="2000" dirty="0" smtClean="0"/>
              <a:t/>
            </a:r>
            <a:br>
              <a:rPr lang="es-CL" sz="2000" dirty="0" smtClean="0"/>
            </a:br>
            <a:r>
              <a:rPr lang="es-CL" sz="2000" dirty="0" smtClean="0"/>
              <a:t/>
            </a:r>
            <a:br>
              <a:rPr lang="es-CL" sz="2000" dirty="0" smtClean="0"/>
            </a:br>
            <a:r>
              <a:rPr lang="es-CL" sz="2000" dirty="0" err="1" smtClean="0"/>
              <a:t>for</a:t>
            </a:r>
            <a:r>
              <a:rPr lang="es-CL" sz="2000" dirty="0" smtClean="0"/>
              <a:t> </a:t>
            </a:r>
            <a:r>
              <a:rPr lang="es-CL" sz="2000" dirty="0" err="1" smtClean="0"/>
              <a:t>tradingview</a:t>
            </a:r>
            <a:r>
              <a:rPr lang="es-CL" dirty="0" smtClean="0"/>
              <a:t/>
            </a:r>
            <a:br>
              <a:rPr lang="es-CL" dirty="0" smtClean="0"/>
            </a:br>
            <a:r>
              <a:rPr lang="es-CL" dirty="0" smtClean="0"/>
              <a:t/>
            </a:r>
            <a:br>
              <a:rPr lang="es-CL" dirty="0" smtClean="0"/>
            </a:br>
            <a:r>
              <a:rPr lang="es-CL" sz="2400" b="0" dirty="0" err="1"/>
              <a:t>Revolutionizing</a:t>
            </a:r>
            <a:r>
              <a:rPr lang="es-CL" sz="2400" b="0" dirty="0"/>
              <a:t> </a:t>
            </a:r>
            <a:r>
              <a:rPr lang="es-CL" sz="2400" b="0" dirty="0" err="1" smtClean="0"/>
              <a:t>Crypto</a:t>
            </a:r>
            <a:r>
              <a:rPr lang="es-CL" sz="2400" b="0" dirty="0" smtClean="0"/>
              <a:t/>
            </a:r>
            <a:br>
              <a:rPr lang="es-CL" sz="2400" b="0" dirty="0" smtClean="0"/>
            </a:br>
            <a:r>
              <a:rPr lang="es-CL" sz="2400" b="0" dirty="0" smtClean="0"/>
              <a:t> </a:t>
            </a:r>
            <a:br>
              <a:rPr lang="es-CL" sz="2400" b="0" dirty="0" smtClean="0"/>
            </a:br>
            <a:r>
              <a:rPr lang="es-CL" sz="2400" b="0" dirty="0" err="1" smtClean="0"/>
              <a:t>Market</a:t>
            </a:r>
            <a:r>
              <a:rPr lang="es-CL" sz="2400" b="0" dirty="0" smtClean="0"/>
              <a:t> </a:t>
            </a:r>
            <a:r>
              <a:rPr lang="es-CL" sz="2400" b="0" dirty="0" err="1"/>
              <a:t>Analysis</a:t>
            </a:r>
            <a:endParaRPr lang="en-US" sz="2400" dirty="0"/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696329B1-2D04-0F3A-1081-C5117D8CE122}"/>
              </a:ext>
            </a:extLst>
          </p:cNvPr>
          <p:cNvSpPr txBox="1">
            <a:spLocks/>
          </p:cNvSpPr>
          <p:nvPr/>
        </p:nvSpPr>
        <p:spPr>
          <a:xfrm>
            <a:off x="743243" y="5456857"/>
            <a:ext cx="7068312" cy="7589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b="1" dirty="0" err="1"/>
              <a:t>Awaken</a:t>
            </a:r>
            <a:r>
              <a:rPr lang="es-CL" b="1" dirty="0"/>
              <a:t> </a:t>
            </a:r>
            <a:r>
              <a:rPr lang="es-CL" b="1" dirty="0" err="1"/>
              <a:t>Tech</a:t>
            </a:r>
            <a:r>
              <a:rPr lang="es-CL" b="1" dirty="0"/>
              <a:t> </a:t>
            </a:r>
            <a:r>
              <a:rPr lang="es-CL" b="1" dirty="0" err="1"/>
              <a:t>Research</a:t>
            </a:r>
            <a:r>
              <a:rPr lang="es-CL" b="1" dirty="0"/>
              <a:t> Team</a:t>
            </a:r>
          </a:p>
          <a:p>
            <a:pPr algn="l"/>
            <a:r>
              <a:rPr lang="es-CL" b="1" dirty="0" err="1"/>
              <a:t>July</a:t>
            </a:r>
            <a:r>
              <a:rPr lang="es-CL" b="1" dirty="0"/>
              <a:t> 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389206"/>
            <a:ext cx="8878824" cy="1069848"/>
          </a:xfrm>
        </p:spPr>
        <p:txBody>
          <a:bodyPr>
            <a:normAutofit/>
          </a:bodyPr>
          <a:lstStyle/>
          <a:p>
            <a:r>
              <a:rPr lang="es-CL" dirty="0"/>
              <a:t>Agenda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720479"/>
            <a:ext cx="6422136" cy="3282696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The </a:t>
            </a:r>
            <a:r>
              <a:rPr lang="en-US" sz="2000" dirty="0">
                <a:latin typeface="+mj-lt"/>
              </a:rPr>
              <a:t>Challenge: Limited Crypto Monitoring</a:t>
            </a:r>
          </a:p>
          <a:p>
            <a:r>
              <a:rPr lang="es-CL" sz="2000" dirty="0" err="1" smtClean="0">
                <a:latin typeface="+mj-lt"/>
              </a:rPr>
              <a:t>Introducing</a:t>
            </a:r>
            <a:r>
              <a:rPr lang="es-CL" sz="2000" dirty="0" smtClean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Graphic</a:t>
            </a:r>
            <a:r>
              <a:rPr lang="es-CL" sz="2000" dirty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Crypto</a:t>
            </a:r>
            <a:r>
              <a:rPr lang="es-CL" sz="2000" dirty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Screener</a:t>
            </a:r>
            <a:endParaRPr lang="es-CL" sz="2000" dirty="0">
              <a:latin typeface="+mj-lt"/>
            </a:endParaRPr>
          </a:p>
          <a:p>
            <a:r>
              <a:rPr lang="es-CL" sz="2000" dirty="0" smtClean="0">
                <a:latin typeface="+mj-lt"/>
              </a:rPr>
              <a:t>Key </a:t>
            </a:r>
            <a:r>
              <a:rPr lang="es-CL" sz="2000" dirty="0" err="1">
                <a:latin typeface="+mj-lt"/>
              </a:rPr>
              <a:t>Features</a:t>
            </a:r>
            <a:r>
              <a:rPr lang="es-CL" sz="2000" dirty="0">
                <a:latin typeface="+mj-lt"/>
              </a:rPr>
              <a:t> and </a:t>
            </a:r>
            <a:r>
              <a:rPr lang="es-CL" sz="2000" dirty="0" err="1">
                <a:latin typeface="+mj-lt"/>
              </a:rPr>
              <a:t>Benefits</a:t>
            </a:r>
            <a:endParaRPr lang="es-CL" sz="2000" dirty="0">
              <a:latin typeface="+mj-lt"/>
            </a:endParaRPr>
          </a:p>
          <a:p>
            <a:r>
              <a:rPr lang="es-CL" sz="2000" dirty="0" err="1" smtClean="0">
                <a:latin typeface="+mj-lt"/>
              </a:rPr>
              <a:t>Technical</a:t>
            </a:r>
            <a:r>
              <a:rPr lang="es-CL" sz="2000" dirty="0" smtClean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Insights</a:t>
            </a:r>
            <a:endParaRPr lang="es-CL" sz="2000" dirty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Future </a:t>
            </a:r>
            <a:r>
              <a:rPr lang="en-US" sz="2000" dirty="0">
                <a:latin typeface="+mj-lt"/>
              </a:rPr>
              <a:t>Vision with Machine Learning</a:t>
            </a:r>
          </a:p>
          <a:p>
            <a:r>
              <a:rPr lang="es-CL" sz="2000" dirty="0" err="1" smtClean="0">
                <a:latin typeface="+mj-lt"/>
              </a:rPr>
              <a:t>Join</a:t>
            </a:r>
            <a:r>
              <a:rPr lang="es-CL" sz="2000" dirty="0" smtClean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Our</a:t>
            </a:r>
            <a:r>
              <a:rPr lang="es-CL" sz="2000" dirty="0">
                <a:latin typeface="+mj-lt"/>
              </a:rPr>
              <a:t> </a:t>
            </a:r>
            <a:r>
              <a:rPr lang="es-CL" sz="2000" dirty="0" err="1">
                <a:latin typeface="+mj-lt"/>
              </a:rPr>
              <a:t>Community</a:t>
            </a:r>
            <a:endParaRPr lang="en-US" sz="2000" dirty="0">
              <a:solidFill>
                <a:schemeClr val="bg1"/>
              </a:solidFill>
              <a:latin typeface="+mj-lt"/>
              <a:cs typeface="Segoe UI Ligh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CL" b="1" dirty="0" err="1"/>
              <a:t>Awaken</a:t>
            </a:r>
            <a:r>
              <a:rPr lang="es-CL" b="1" dirty="0"/>
              <a:t> </a:t>
            </a:r>
            <a:r>
              <a:rPr lang="es-CL" b="1" dirty="0" err="1"/>
              <a:t>Tech</a:t>
            </a:r>
            <a:r>
              <a:rPr lang="es-CL" b="1" dirty="0"/>
              <a:t> </a:t>
            </a:r>
            <a:r>
              <a:rPr lang="es-CL" b="1" dirty="0" err="1"/>
              <a:t>Research</a:t>
            </a:r>
            <a:r>
              <a:rPr lang="es-CL" b="1" dirty="0"/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840" y="1876014"/>
            <a:ext cx="7735824" cy="1069848"/>
          </a:xfrm>
        </p:spPr>
        <p:txBody>
          <a:bodyPr/>
          <a:lstStyle/>
          <a:p>
            <a:r>
              <a:rPr lang="en-US" dirty="0"/>
              <a:t>The Challenge in Crypto Trading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49325" y="3559715"/>
            <a:ext cx="8525601" cy="2580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/>
              <a:t>TradingView</a:t>
            </a:r>
            <a:r>
              <a:rPr lang="en-US" sz="2000" dirty="0"/>
              <a:t> has limited securities group screening capabilities.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Pine Script presents limits for </a:t>
            </a:r>
            <a:r>
              <a:rPr lang="en-US" sz="2000" b="1" dirty="0"/>
              <a:t>running up to</a:t>
            </a:r>
            <a:r>
              <a:rPr lang="en-US" sz="2000" dirty="0"/>
              <a:t> 40 tokens per script.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Traders often miss a comprehensive market view.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Scalability limits hinder real-time decision-making</a:t>
            </a:r>
            <a:r>
              <a:rPr lang="en-US" sz="2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Why It Matters:</a:t>
            </a:r>
            <a:r>
              <a:rPr lang="en-US" sz="2000" dirty="0"/>
              <a:t> A broader view unlocks better trading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61" y="487908"/>
            <a:ext cx="10140462" cy="11710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CL" sz="4000" dirty="0" err="1"/>
              <a:t>Introducing</a:t>
            </a:r>
            <a:r>
              <a:rPr lang="es-CL" sz="4000" dirty="0"/>
              <a:t> </a:t>
            </a:r>
            <a:r>
              <a:rPr lang="es-CL" sz="4000" dirty="0" err="1"/>
              <a:t>Graphic</a:t>
            </a:r>
            <a:r>
              <a:rPr lang="es-CL" sz="4000" dirty="0"/>
              <a:t> </a:t>
            </a:r>
            <a:r>
              <a:rPr lang="es-CL" sz="4000" dirty="0" err="1"/>
              <a:t>Crypto</a:t>
            </a:r>
            <a:r>
              <a:rPr lang="es-CL" sz="4000" dirty="0"/>
              <a:t> </a:t>
            </a:r>
            <a:r>
              <a:rPr lang="es-CL" sz="4000" dirty="0" err="1"/>
              <a:t>Screener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975" y="1828801"/>
            <a:ext cx="9317185" cy="4075610"/>
          </a:xfrm>
        </p:spPr>
        <p:txBody>
          <a:bodyPr/>
          <a:lstStyle/>
          <a:p>
            <a:pPr algn="l"/>
            <a:r>
              <a:rPr lang="es-CL" sz="2800" b="1" dirty="0" err="1"/>
              <a:t>Overview</a:t>
            </a:r>
            <a:endParaRPr lang="es-CL" sz="2800" b="1" dirty="0"/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Graphic Crypto Screener is a Pine Script tool for </a:t>
            </a:r>
            <a:r>
              <a:rPr lang="en-US" sz="2000" dirty="0" err="1"/>
              <a:t>TradingView</a:t>
            </a:r>
            <a:r>
              <a:rPr lang="en-US" sz="2000" dirty="0"/>
              <a:t>, designed to scan up to 120 selected crypto tokens across various timeframes.</a:t>
            </a:r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Overcomes Pine Script's 40-token limit through an innovative design.</a:t>
            </a:r>
            <a:r>
              <a:rPr lang="en-US" sz="2000" dirty="0" smtClean="0"/>
              <a:t>.</a:t>
            </a:r>
            <a:endParaRPr lang="en-US" sz="2000" dirty="0"/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Supports customizable indicators</a:t>
            </a:r>
            <a:r>
              <a:rPr lang="en-US" sz="2000" dirty="0"/>
              <a:t> (e.g., RSI, </a:t>
            </a:r>
            <a:r>
              <a:rPr lang="en-US" sz="2000" dirty="0" err="1"/>
              <a:t>TSI</a:t>
            </a:r>
            <a:r>
              <a:rPr lang="en-US" sz="2000" dirty="0"/>
              <a:t>, Stochastic Oscillator, ATR/Range), covering a spectrum of types including momentum, market level, and volatility.</a:t>
            </a:r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Offers </a:t>
            </a:r>
            <a:r>
              <a:rPr lang="en-US" sz="2000" b="1" dirty="0"/>
              <a:t>configurable display options</a:t>
            </a:r>
            <a:r>
              <a:rPr lang="en-US" sz="2000" dirty="0"/>
              <a:t> for indicators, including </a:t>
            </a:r>
            <a:r>
              <a:rPr lang="en-US" sz="2000" dirty="0" err="1"/>
              <a:t>repaintable</a:t>
            </a:r>
            <a:r>
              <a:rPr lang="en-US" sz="2000" dirty="0"/>
              <a:t> or fixed views, and a "colored tail" to visualize a security's past position.</a:t>
            </a:r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Includes a </a:t>
            </a:r>
            <a:r>
              <a:rPr lang="en-US" sz="2000" b="1" dirty="0"/>
              <a:t>built-in algorithm to highlight tokens with significant volume surges.</a:t>
            </a:r>
            <a:endParaRPr lang="en-US" sz="2000" dirty="0"/>
          </a:p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</a:t>
            </a:r>
            <a:r>
              <a:rPr lang="en-US" sz="2000" b="1" dirty="0"/>
              <a:t>the ability to set customizable alarms</a:t>
            </a:r>
            <a:r>
              <a:rPr lang="en-US" sz="2000" dirty="0"/>
              <a:t> when specific conditions are met.</a:t>
            </a:r>
          </a:p>
          <a:p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 txBox="1">
            <a:spLocks/>
          </p:cNvSpPr>
          <p:nvPr/>
        </p:nvSpPr>
        <p:spPr>
          <a:xfrm>
            <a:off x="192844" y="6467323"/>
            <a:ext cx="3038856" cy="5536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200" b="1" dirty="0" err="1" smtClean="0">
                <a:solidFill>
                  <a:schemeClr val="bg1"/>
                </a:solidFill>
              </a:rPr>
              <a:t>Awaken</a:t>
            </a:r>
            <a:r>
              <a:rPr lang="es-CL" sz="1200" b="1" dirty="0" smtClean="0">
                <a:solidFill>
                  <a:schemeClr val="bg1"/>
                </a:solidFill>
              </a:rPr>
              <a:t> </a:t>
            </a:r>
            <a:r>
              <a:rPr lang="es-CL" sz="1200" b="1" dirty="0" err="1" smtClean="0">
                <a:solidFill>
                  <a:schemeClr val="bg1"/>
                </a:solidFill>
              </a:rPr>
              <a:t>Tech</a:t>
            </a:r>
            <a:r>
              <a:rPr lang="es-CL" sz="1200" b="1" dirty="0" smtClean="0">
                <a:solidFill>
                  <a:schemeClr val="bg1"/>
                </a:solidFill>
              </a:rPr>
              <a:t> </a:t>
            </a:r>
            <a:r>
              <a:rPr lang="es-CL" sz="1200" b="1" dirty="0" err="1" smtClean="0">
                <a:solidFill>
                  <a:schemeClr val="bg1"/>
                </a:solidFill>
              </a:rPr>
              <a:t>Research</a:t>
            </a:r>
            <a:r>
              <a:rPr lang="es-CL" sz="1200" b="1" dirty="0" smtClean="0">
                <a:solidFill>
                  <a:schemeClr val="bg1"/>
                </a:solidFill>
              </a:rPr>
              <a:t> Team</a:t>
            </a:r>
            <a:endParaRPr lang="es-CL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21873" y="563645"/>
            <a:ext cx="7735824" cy="1069848"/>
          </a:xfrm>
        </p:spPr>
        <p:txBody>
          <a:bodyPr/>
          <a:lstStyle/>
          <a:p>
            <a:r>
              <a:rPr lang="es-CL" dirty="0" err="1"/>
              <a:t>Graphic</a:t>
            </a:r>
            <a:r>
              <a:rPr lang="es-CL" dirty="0"/>
              <a:t> </a:t>
            </a:r>
            <a:r>
              <a:rPr lang="es-CL" dirty="0" err="1"/>
              <a:t>Crypto</a:t>
            </a:r>
            <a:r>
              <a:rPr lang="es-CL" dirty="0"/>
              <a:t> </a:t>
            </a:r>
            <a:r>
              <a:rPr lang="es-CL" dirty="0" err="1"/>
              <a:t>Screener</a:t>
            </a:r>
            <a:endParaRPr lang="es-CL" dirty="0"/>
          </a:p>
        </p:txBody>
      </p:sp>
      <p:sp>
        <p:nvSpPr>
          <p:cNvPr id="5" name="Rectángulo 4"/>
          <p:cNvSpPr/>
          <p:nvPr/>
        </p:nvSpPr>
        <p:spPr>
          <a:xfrm>
            <a:off x="1670036" y="1633493"/>
            <a:ext cx="82160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Screenshot of </a:t>
            </a:r>
            <a:r>
              <a:rPr lang="es-CL" sz="2000" i="1" dirty="0" smtClean="0">
                <a:solidFill>
                  <a:schemeClr val="bg1"/>
                </a:solidFill>
              </a:rPr>
              <a:t> </a:t>
            </a:r>
            <a:r>
              <a:rPr lang="es-CL" sz="2000" i="1" dirty="0" err="1" smtClean="0">
                <a:solidFill>
                  <a:schemeClr val="bg1"/>
                </a:solidFill>
              </a:rPr>
              <a:t>RSI</a:t>
            </a:r>
            <a:r>
              <a:rPr lang="es-CL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Screener </a:t>
            </a:r>
            <a:r>
              <a:rPr lang="en-US" sz="2000" i="1" dirty="0">
                <a:solidFill>
                  <a:schemeClr val="bg1"/>
                </a:solidFill>
              </a:rPr>
              <a:t>with selected 80 </a:t>
            </a:r>
            <a:r>
              <a:rPr lang="en-US" sz="2000" i="1" dirty="0" smtClean="0">
                <a:solidFill>
                  <a:schemeClr val="bg1"/>
                </a:solidFill>
              </a:rPr>
              <a:t>tokens, daily Timeframe.</a:t>
            </a:r>
            <a:endParaRPr lang="es-CL" sz="2000" i="1" dirty="0">
              <a:solidFill>
                <a:schemeClr val="bg1"/>
              </a:solidFill>
            </a:endParaRPr>
          </a:p>
          <a:p>
            <a:endParaRPr lang="es-CL" sz="2000" dirty="0" smtClean="0">
              <a:solidFill>
                <a:schemeClr val="bg1"/>
              </a:solidFill>
              <a:latin typeface="LMSans10-Regular-Identity-H"/>
            </a:endParaRPr>
          </a:p>
          <a:p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6" y="2141324"/>
            <a:ext cx="10241280" cy="45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4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0664" y="93550"/>
            <a:ext cx="10881360" cy="1069848"/>
          </a:xfrm>
        </p:spPr>
        <p:txBody>
          <a:bodyPr/>
          <a:lstStyle/>
          <a:p>
            <a:r>
              <a:rPr lang="es-CL" dirty="0" smtClean="0"/>
              <a:t>Key </a:t>
            </a:r>
            <a:r>
              <a:rPr lang="es-CL" dirty="0" err="1" smtClean="0"/>
              <a:t>Features</a:t>
            </a:r>
            <a:endParaRPr lang="es-CL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6344" y="6190488"/>
            <a:ext cx="2331720" cy="274320"/>
          </a:xfrm>
        </p:spPr>
        <p:txBody>
          <a:bodyPr/>
          <a:lstStyle/>
          <a:p>
            <a:r>
              <a:rPr lang="es-CL" b="1" dirty="0" err="1"/>
              <a:t>Awaken</a:t>
            </a:r>
            <a:r>
              <a:rPr lang="es-CL" b="1" dirty="0"/>
              <a:t> </a:t>
            </a:r>
            <a:r>
              <a:rPr lang="es-CL" b="1" dirty="0" err="1"/>
              <a:t>Tech</a:t>
            </a:r>
            <a:r>
              <a:rPr lang="es-CL" b="1" dirty="0"/>
              <a:t> </a:t>
            </a:r>
            <a:r>
              <a:rPr lang="es-CL" b="1" dirty="0" err="1"/>
              <a:t>Research</a:t>
            </a:r>
            <a:r>
              <a:rPr lang="es-CL" b="1" dirty="0"/>
              <a:t> Team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40664" y="1693431"/>
            <a:ext cx="9779290" cy="3632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/>
              <a:t>120 </a:t>
            </a:r>
            <a:r>
              <a:rPr lang="es-CL" altLang="es-CL" sz="2000" b="1" dirty="0" err="1"/>
              <a:t>Token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Monitoring</a:t>
            </a:r>
            <a:r>
              <a:rPr lang="es-CL" altLang="es-CL" sz="2000" b="1" dirty="0"/>
              <a:t>: </a:t>
            </a:r>
            <a:r>
              <a:rPr lang="es-CL" altLang="es-CL" sz="2000" b="1" dirty="0" err="1"/>
              <a:t>Overcomes</a:t>
            </a:r>
            <a:r>
              <a:rPr lang="es-CL" altLang="es-CL" sz="2000" b="1" dirty="0"/>
              <a:t> Pine </a:t>
            </a:r>
            <a:r>
              <a:rPr lang="es-CL" altLang="es-CL" sz="2000" b="1" dirty="0" err="1"/>
              <a:t>Script's</a:t>
            </a:r>
            <a:r>
              <a:rPr lang="es-CL" altLang="es-CL" sz="2000" b="1" dirty="0"/>
              <a:t> 40-</a:t>
            </a:r>
            <a:r>
              <a:rPr lang="es-CL" altLang="es-CL" sz="2000" b="1" dirty="0" err="1"/>
              <a:t>token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limit</a:t>
            </a:r>
            <a:r>
              <a:rPr lang="es-CL" altLang="es-CL" sz="2000" b="1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 err="1"/>
              <a:t>Multi-Timeframe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Insights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Analyzes</a:t>
            </a:r>
            <a:r>
              <a:rPr lang="es-CL" altLang="es-CL" sz="2000" dirty="0"/>
              <a:t> data </a:t>
            </a:r>
            <a:r>
              <a:rPr lang="es-CL" altLang="es-CL" sz="2000" dirty="0" err="1"/>
              <a:t>across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various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timeframes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 err="1"/>
              <a:t>Customizable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Indicators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Supports</a:t>
            </a:r>
            <a:r>
              <a:rPr lang="es-CL" altLang="es-CL" sz="2000" dirty="0"/>
              <a:t> a </a:t>
            </a:r>
            <a:r>
              <a:rPr lang="es-CL" altLang="es-CL" sz="2000" dirty="0" err="1"/>
              <a:t>wide</a:t>
            </a:r>
            <a:r>
              <a:rPr lang="es-CL" altLang="es-CL" sz="2000" dirty="0"/>
              <a:t> </a:t>
            </a:r>
            <a:r>
              <a:rPr lang="es-CL" altLang="es-CL" sz="2000" dirty="0" err="1"/>
              <a:t>range</a:t>
            </a:r>
            <a:r>
              <a:rPr lang="es-CL" altLang="es-CL" sz="2000" dirty="0"/>
              <a:t> of </a:t>
            </a:r>
            <a:r>
              <a:rPr lang="es-CL" altLang="es-CL" sz="2000" dirty="0" err="1"/>
              <a:t>indicators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/>
              <a:t>Color </a:t>
            </a:r>
            <a:r>
              <a:rPr lang="es-CL" altLang="es-CL" sz="2000" b="1" dirty="0" err="1"/>
              <a:t>Customization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Offers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extensive</a:t>
            </a:r>
            <a:r>
              <a:rPr lang="es-CL" altLang="es-CL" sz="2000" dirty="0"/>
              <a:t> </a:t>
            </a:r>
            <a:r>
              <a:rPr lang="es-CL" altLang="es-CL" sz="2000" dirty="0" err="1"/>
              <a:t>display</a:t>
            </a:r>
            <a:r>
              <a:rPr lang="es-CL" altLang="es-CL" sz="2000" dirty="0"/>
              <a:t> </a:t>
            </a:r>
            <a:r>
              <a:rPr lang="es-CL" altLang="es-CL" sz="2000" dirty="0" err="1"/>
              <a:t>personalization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 err="1"/>
              <a:t>Seamless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Integration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Fully</a:t>
            </a:r>
            <a:r>
              <a:rPr lang="es-CL" altLang="es-CL" sz="2000" dirty="0"/>
              <a:t> </a:t>
            </a:r>
            <a:r>
              <a:rPr lang="es-CL" altLang="es-CL" sz="2000" dirty="0" err="1"/>
              <a:t>integrates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with</a:t>
            </a:r>
            <a:r>
              <a:rPr lang="es-CL" altLang="es-CL" sz="2000" dirty="0"/>
              <a:t> </a:t>
            </a:r>
            <a:r>
              <a:rPr lang="es-CL" altLang="es-CL" sz="2000" dirty="0" err="1"/>
              <a:t>TradingView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/>
              <a:t>Real-Time </a:t>
            </a:r>
            <a:r>
              <a:rPr lang="es-CL" altLang="es-CL" sz="2000" b="1" dirty="0" err="1"/>
              <a:t>Scalability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Ensures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scalable</a:t>
            </a:r>
            <a:r>
              <a:rPr lang="es-CL" altLang="es-CL" sz="2000" dirty="0"/>
              <a:t>, real-time </a:t>
            </a:r>
            <a:r>
              <a:rPr lang="es-CL" altLang="es-CL" sz="2000" dirty="0" err="1"/>
              <a:t>updates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 err="1"/>
              <a:t>Advanced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Alerts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Provides</a:t>
            </a:r>
            <a:r>
              <a:rPr lang="es-CL" altLang="es-CL" sz="2000" dirty="0"/>
              <a:t> </a:t>
            </a:r>
            <a:r>
              <a:rPr lang="es-CL" altLang="es-CL" sz="2000" dirty="0" err="1"/>
              <a:t>customizable</a:t>
            </a:r>
            <a:r>
              <a:rPr lang="es-CL" altLang="es-CL" sz="2000" dirty="0"/>
              <a:t> </a:t>
            </a:r>
            <a:r>
              <a:rPr lang="es-CL" altLang="es-CL" sz="2000" dirty="0" err="1"/>
              <a:t>alarms</a:t>
            </a:r>
            <a:r>
              <a:rPr lang="es-CL" altLang="es-CL" sz="2000" dirty="0"/>
              <a:t> and </a:t>
            </a:r>
            <a:r>
              <a:rPr lang="es-CL" altLang="es-CL" sz="2000" dirty="0" err="1"/>
              <a:t>WebSocket</a:t>
            </a:r>
            <a:r>
              <a:rPr lang="es-CL" altLang="es-CL" sz="2000" dirty="0"/>
              <a:t> </a:t>
            </a:r>
            <a:r>
              <a:rPr lang="es-CL" altLang="es-CL" sz="2000" dirty="0" err="1"/>
              <a:t>integration</a:t>
            </a:r>
            <a:r>
              <a:rPr lang="es-CL" altLang="es-CL" sz="2000" dirty="0"/>
              <a:t>.</a:t>
            </a:r>
          </a:p>
          <a:p>
            <a:pPr marL="342900" indent="-342900" fontAlgn="base">
              <a:lnSpc>
                <a:spcPts val="26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sz="2000" b="1" dirty="0"/>
              <a:t>New </a:t>
            </a:r>
            <a:r>
              <a:rPr lang="es-CL" altLang="es-CL" sz="2000" b="1" dirty="0" err="1"/>
              <a:t>Indicators</a:t>
            </a:r>
            <a:r>
              <a:rPr lang="es-CL" altLang="es-CL" sz="2000" b="1" dirty="0"/>
              <a:t> </a:t>
            </a:r>
            <a:r>
              <a:rPr lang="es-CL" altLang="es-CL" sz="2000" b="1" dirty="0" err="1"/>
              <a:t>Added</a:t>
            </a:r>
            <a:r>
              <a:rPr lang="es-CL" altLang="es-CL" sz="2000" b="1" dirty="0"/>
              <a:t>: </a:t>
            </a:r>
            <a:r>
              <a:rPr lang="es-CL" altLang="es-CL" sz="2000" dirty="0" err="1"/>
              <a:t>Continuously</a:t>
            </a:r>
            <a:r>
              <a:rPr lang="es-CL" altLang="es-CL" sz="2000" dirty="0"/>
              <a:t> </a:t>
            </a:r>
            <a:r>
              <a:rPr lang="es-CL" altLang="es-CL" sz="2000" dirty="0" err="1"/>
              <a:t>expanding</a:t>
            </a:r>
            <a:r>
              <a:rPr lang="es-CL" altLang="es-CL" sz="2000" dirty="0"/>
              <a:t> </a:t>
            </a:r>
            <a:r>
              <a:rPr lang="es-CL" altLang="es-CL" sz="2000" dirty="0" err="1"/>
              <a:t>analytical</a:t>
            </a:r>
            <a:r>
              <a:rPr lang="es-CL" altLang="es-CL" sz="2000" dirty="0"/>
              <a:t> </a:t>
            </a:r>
            <a:r>
              <a:rPr lang="es-CL" altLang="es-CL" sz="2000" dirty="0" err="1"/>
              <a:t>capabilities</a:t>
            </a:r>
            <a:r>
              <a:rPr lang="es-CL" altLang="es-C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215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392" y="187452"/>
            <a:ext cx="10881360" cy="1069848"/>
          </a:xfrm>
        </p:spPr>
        <p:txBody>
          <a:bodyPr/>
          <a:lstStyle/>
          <a:p>
            <a:r>
              <a:rPr lang="es-CL" dirty="0" err="1"/>
              <a:t>Benefits</a:t>
            </a:r>
            <a:r>
              <a:rPr lang="es-CL" dirty="0"/>
              <a:t> </a:t>
            </a:r>
            <a:r>
              <a:rPr lang="es-CL" dirty="0" err="1"/>
              <a:t>for</a:t>
            </a:r>
            <a:r>
              <a:rPr lang="es-CL" dirty="0"/>
              <a:t> </a:t>
            </a:r>
            <a:r>
              <a:rPr lang="es-CL" dirty="0" err="1"/>
              <a:t>Traders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69462" y="1811178"/>
            <a:ext cx="10477510" cy="354787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800" b="1" dirty="0"/>
              <a:t>Scenario:</a:t>
            </a:r>
            <a:r>
              <a:rPr lang="en-US" sz="1800" dirty="0"/>
              <a:t> Track 120 tokens in real-time and spot trends across timeframes effortlessly.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Comprehensive Market Overview:</a:t>
            </a:r>
            <a:r>
              <a:rPr lang="en-US" sz="1800" dirty="0"/>
              <a:t> Gain a complete market perspective in a single, intuitive view.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Enhanced Flexibility:</a:t>
            </a:r>
            <a:r>
              <a:rPr lang="en-US" sz="1800" dirty="0"/>
              <a:t> Benefit from superior adaptability with fully customizable indicators.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User-Friendly for All Levels:</a:t>
            </a:r>
            <a:r>
              <a:rPr lang="en-US" sz="1800" dirty="0"/>
              <a:t> Ideal for both novice and expert traders.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6344" y="6173532"/>
            <a:ext cx="2331720" cy="274320"/>
          </a:xfrm>
        </p:spPr>
        <p:txBody>
          <a:bodyPr/>
          <a:lstStyle/>
          <a:p>
            <a:r>
              <a:rPr lang="es-CL" b="1" dirty="0" err="1"/>
              <a:t>Awaken</a:t>
            </a:r>
            <a:r>
              <a:rPr lang="es-CL" b="1" dirty="0"/>
              <a:t> </a:t>
            </a:r>
            <a:r>
              <a:rPr lang="es-CL" b="1" dirty="0" err="1"/>
              <a:t>Tech</a:t>
            </a:r>
            <a:r>
              <a:rPr lang="es-CL" b="1" dirty="0"/>
              <a:t> </a:t>
            </a:r>
            <a:r>
              <a:rPr lang="es-CL" b="1" dirty="0" err="1"/>
              <a:t>Research</a:t>
            </a:r>
            <a:r>
              <a:rPr lang="es-CL" b="1" dirty="0"/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14068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7777" y="164833"/>
            <a:ext cx="8878824" cy="1069848"/>
          </a:xfrm>
        </p:spPr>
        <p:txBody>
          <a:bodyPr/>
          <a:lstStyle/>
          <a:p>
            <a:r>
              <a:rPr lang="es-CL" dirty="0" err="1"/>
              <a:t>How</a:t>
            </a:r>
            <a:r>
              <a:rPr lang="es-CL" dirty="0"/>
              <a:t> </a:t>
            </a:r>
            <a:r>
              <a:rPr lang="es-CL" dirty="0" err="1"/>
              <a:t>It</a:t>
            </a:r>
            <a:r>
              <a:rPr lang="es-CL" dirty="0"/>
              <a:t> Works</a:t>
            </a: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2598533788"/>
              </p:ext>
            </p:extLst>
          </p:nvPr>
        </p:nvGraphicFramePr>
        <p:xfrm>
          <a:off x="1736447" y="4243322"/>
          <a:ext cx="8460154" cy="1859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6344" y="6190488"/>
            <a:ext cx="2331720" cy="274320"/>
          </a:xfrm>
        </p:spPr>
        <p:txBody>
          <a:bodyPr/>
          <a:lstStyle/>
          <a:p>
            <a:r>
              <a:rPr lang="es-CL" b="1" dirty="0" err="1"/>
              <a:t>Awaken</a:t>
            </a:r>
            <a:r>
              <a:rPr lang="es-CL" b="1" dirty="0"/>
              <a:t> </a:t>
            </a:r>
            <a:r>
              <a:rPr lang="es-CL" b="1" dirty="0" err="1"/>
              <a:t>Tech</a:t>
            </a:r>
            <a:r>
              <a:rPr lang="es-CL" b="1" dirty="0"/>
              <a:t> </a:t>
            </a:r>
            <a:r>
              <a:rPr lang="es-CL" b="1" dirty="0" err="1"/>
              <a:t>Research</a:t>
            </a:r>
            <a:r>
              <a:rPr lang="es-CL" b="1" dirty="0"/>
              <a:t> Team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17625" y="1700679"/>
            <a:ext cx="724236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L" altLang="es-CL" sz="20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Data: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Real-time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crypto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price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feeds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from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TradingView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L" altLang="es-CL" sz="2000" b="1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Design</a:t>
            </a:r>
            <a:r>
              <a:rPr kumimoji="0" lang="es-CL" altLang="es-CL" sz="20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: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Pine Script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optimized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to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scan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120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tokens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L" altLang="es-CL" sz="2000" b="1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Visualization</a:t>
            </a:r>
            <a:r>
              <a:rPr kumimoji="0" lang="es-CL" altLang="es-CL" sz="20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: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Intuitive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graphic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display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of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indicator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values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L" altLang="es-CL" sz="2000" b="1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Limitation</a:t>
            </a:r>
            <a:r>
              <a:rPr kumimoji="0" lang="es-CL" altLang="es-CL" sz="20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: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Requires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multiple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script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instances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for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full </a:t>
            </a:r>
            <a:r>
              <a:rPr kumimoji="0" lang="es-CL" altLang="es-CL" sz="20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scale</a:t>
            </a:r>
            <a:r>
              <a:rPr kumimoji="0" lang="es-CL" altLang="es-CL" sz="20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511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1202" y="0"/>
            <a:ext cx="8878824" cy="1069848"/>
          </a:xfrm>
        </p:spPr>
        <p:txBody>
          <a:bodyPr/>
          <a:lstStyle/>
          <a:p>
            <a:r>
              <a:rPr lang="es-CL" dirty="0" err="1"/>
              <a:t>Customization</a:t>
            </a:r>
            <a:r>
              <a:rPr lang="es-CL" dirty="0"/>
              <a:t> </a:t>
            </a:r>
            <a:r>
              <a:rPr lang="es-CL" dirty="0" err="1"/>
              <a:t>Options</a:t>
            </a:r>
            <a:endParaRPr lang="es-CL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CL" dirty="0" err="1"/>
              <a:t>Awaken</a:t>
            </a:r>
            <a:r>
              <a:rPr lang="es-CL" dirty="0"/>
              <a:t> </a:t>
            </a:r>
            <a:r>
              <a:rPr lang="es-CL" dirty="0" err="1"/>
              <a:t>Tech</a:t>
            </a:r>
            <a:r>
              <a:rPr lang="es-CL" dirty="0"/>
              <a:t> </a:t>
            </a:r>
            <a:r>
              <a:rPr lang="es-CL" dirty="0" err="1"/>
              <a:t>Research</a:t>
            </a:r>
            <a:r>
              <a:rPr lang="es-CL" dirty="0"/>
              <a:t> Team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678" y="1591845"/>
            <a:ext cx="3171321" cy="3259168"/>
          </a:xfrm>
          <a:prstGeom prst="rect">
            <a:avLst/>
          </a:prstGeom>
        </p:spPr>
      </p:pic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525" y="1593667"/>
            <a:ext cx="4364099" cy="31846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164" y="1591845"/>
            <a:ext cx="3410075" cy="32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1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1852" y="262582"/>
            <a:ext cx="9566148" cy="1069848"/>
          </a:xfrm>
        </p:spPr>
        <p:txBody>
          <a:bodyPr/>
          <a:lstStyle/>
          <a:p>
            <a:r>
              <a:rPr lang="es-CL" dirty="0" err="1"/>
              <a:t>Advanced</a:t>
            </a:r>
            <a:r>
              <a:rPr lang="es-CL" dirty="0"/>
              <a:t> </a:t>
            </a:r>
            <a:r>
              <a:rPr lang="es-CL" dirty="0" err="1"/>
              <a:t>Visualizations</a:t>
            </a:r>
            <a:endParaRPr lang="es-CL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/>
          <a:lstStyle/>
          <a:p>
            <a:r>
              <a:rPr lang="es-CL" sz="1200" b="1" dirty="0" err="1">
                <a:solidFill>
                  <a:schemeClr val="bg1"/>
                </a:solidFill>
              </a:rPr>
              <a:t>Awaken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Tech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Research</a:t>
            </a:r>
            <a:r>
              <a:rPr lang="es-CL" sz="1200" b="1" dirty="0">
                <a:solidFill>
                  <a:schemeClr val="bg1"/>
                </a:solidFill>
              </a:rPr>
              <a:t> Team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idx="1"/>
          </p:nvPr>
        </p:nvSpPr>
        <p:spPr>
          <a:xfrm>
            <a:off x="1447359" y="1637811"/>
            <a:ext cx="8875134" cy="493776"/>
          </a:xfrm>
        </p:spPr>
        <p:txBody>
          <a:bodyPr/>
          <a:lstStyle/>
          <a:p>
            <a:r>
              <a:rPr lang="es-ES" dirty="0" err="1" smtClean="0"/>
              <a:t>Colored</a:t>
            </a:r>
            <a:r>
              <a:rPr lang="es-ES" dirty="0" smtClean="0"/>
              <a:t> </a:t>
            </a:r>
            <a:r>
              <a:rPr lang="es-ES" dirty="0" smtClean="0"/>
              <a:t>Tail </a:t>
            </a:r>
            <a:r>
              <a:rPr lang="es-ES" dirty="0" err="1" smtClean="0"/>
              <a:t>Showing</a:t>
            </a:r>
            <a:r>
              <a:rPr lang="es-ES" dirty="0" smtClean="0"/>
              <a:t> </a:t>
            </a:r>
            <a:r>
              <a:rPr lang="es-ES" dirty="0" err="1" smtClean="0"/>
              <a:t>Past</a:t>
            </a:r>
            <a:r>
              <a:rPr lang="es-ES" dirty="0" smtClean="0"/>
              <a:t> </a:t>
            </a:r>
            <a:r>
              <a:rPr lang="es-ES" dirty="0" err="1" smtClean="0"/>
              <a:t>Close</a:t>
            </a:r>
            <a:r>
              <a:rPr lang="es-ES" dirty="0" smtClean="0"/>
              <a:t> Position</a:t>
            </a:r>
            <a:endParaRPr lang="es-ES" dirty="0" smtClean="0"/>
          </a:p>
          <a:p>
            <a:r>
              <a:rPr lang="es-ES" dirty="0" err="1"/>
              <a:t>Volume</a:t>
            </a:r>
            <a:r>
              <a:rPr lang="es-ES" dirty="0"/>
              <a:t>: </a:t>
            </a:r>
            <a:r>
              <a:rPr lang="es-ES" dirty="0" err="1" smtClean="0"/>
              <a:t>Highlighted</a:t>
            </a:r>
            <a:r>
              <a:rPr lang="es-ES" dirty="0" smtClean="0"/>
              <a:t> </a:t>
            </a:r>
            <a:r>
              <a:rPr lang="es-ES" dirty="0" err="1" smtClean="0"/>
              <a:t>Frame</a:t>
            </a:r>
            <a:endParaRPr lang="es-CL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59" y="2684725"/>
            <a:ext cx="8597058" cy="32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392" y="52137"/>
            <a:ext cx="10796176" cy="1340478"/>
          </a:xfrm>
        </p:spPr>
        <p:txBody>
          <a:bodyPr/>
          <a:lstStyle/>
          <a:p>
            <a:r>
              <a:rPr lang="en-US" sz="3200" dirty="0"/>
              <a:t>Synchronized Block Movements Detected via RSI (</a:t>
            </a:r>
            <a:r>
              <a:rPr lang="en-US" sz="3200" dirty="0" err="1"/>
              <a:t>15min</a:t>
            </a:r>
            <a:r>
              <a:rPr lang="en-US" sz="3200" dirty="0"/>
              <a:t> </a:t>
            </a:r>
            <a:r>
              <a:rPr lang="en-US" sz="3200" dirty="0" err="1"/>
              <a:t>TF</a:t>
            </a:r>
            <a:r>
              <a:rPr lang="en-US" sz="3200" dirty="0"/>
              <a:t>)</a:t>
            </a:r>
            <a:endParaRPr lang="es-CL" sz="3200" cap="non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Crypto: investing &amp; trading</a:t>
            </a:r>
            <a:endParaRPr lang="en-U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702" y="1589532"/>
            <a:ext cx="9582418" cy="45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9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1852" y="270803"/>
            <a:ext cx="10037064" cy="1069848"/>
          </a:xfrm>
        </p:spPr>
        <p:txBody>
          <a:bodyPr/>
          <a:lstStyle/>
          <a:p>
            <a:pPr algn="ctr"/>
            <a:r>
              <a:rPr lang="es-CL" sz="3200" dirty="0" err="1"/>
              <a:t>Advanced</a:t>
            </a:r>
            <a:r>
              <a:rPr lang="es-CL" sz="3200" dirty="0"/>
              <a:t> </a:t>
            </a:r>
            <a:r>
              <a:rPr lang="es-CL" sz="3200" dirty="0" err="1"/>
              <a:t>Visualizations</a:t>
            </a:r>
            <a:r>
              <a:rPr lang="es-CL" sz="3200" dirty="0"/>
              <a:t> </a:t>
            </a:r>
            <a:r>
              <a:rPr lang="es-CL" sz="3200" dirty="0" smtClean="0"/>
              <a:t> </a:t>
            </a:r>
            <a:r>
              <a:rPr lang="es-CL" sz="3200" dirty="0" err="1" smtClean="0"/>
              <a:t>Stochastic</a:t>
            </a:r>
            <a:r>
              <a:rPr lang="es-CL" sz="3200" dirty="0" smtClean="0"/>
              <a:t> </a:t>
            </a:r>
            <a:r>
              <a:rPr lang="es-CL" sz="3200" dirty="0" err="1"/>
              <a:t>Oscillator</a:t>
            </a:r>
            <a:endParaRPr lang="es-CL" sz="3200" dirty="0"/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95172" y="1597453"/>
            <a:ext cx="10006840" cy="4476910"/>
          </a:xfrm>
          <a:prstGeom prst="rect">
            <a:avLst/>
          </a:prstGeom>
        </p:spPr>
      </p:pic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Crypto: investing &amp; trading</a:t>
            </a:r>
            <a:endParaRPr lang="en-U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16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Crypto: investing &amp; trading</a:t>
            </a:r>
            <a:endParaRPr lang="en-US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490472" y="296559"/>
            <a:ext cx="8878824" cy="1069848"/>
          </a:xfrm>
        </p:spPr>
        <p:txBody>
          <a:bodyPr/>
          <a:lstStyle/>
          <a:p>
            <a:pPr algn="ctr"/>
            <a:r>
              <a:rPr lang="es-CL" sz="3200" dirty="0" err="1" smtClean="0"/>
              <a:t>Advanced</a:t>
            </a:r>
            <a:r>
              <a:rPr lang="es-CL" sz="3200" dirty="0" smtClean="0"/>
              <a:t> </a:t>
            </a:r>
            <a:r>
              <a:rPr lang="es-CL" sz="3200" dirty="0" err="1"/>
              <a:t>Visualizations</a:t>
            </a:r>
            <a:r>
              <a:rPr lang="es-CL" sz="3200" dirty="0"/>
              <a:t>: </a:t>
            </a:r>
            <a:r>
              <a:rPr lang="es-CL" sz="3200" dirty="0" err="1"/>
              <a:t>Volatility</a:t>
            </a:r>
            <a:r>
              <a:rPr lang="es-CL" sz="3200" dirty="0"/>
              <a:t> (</a:t>
            </a:r>
            <a:r>
              <a:rPr lang="es-CL" sz="3200" dirty="0" err="1" smtClean="0"/>
              <a:t>ATR</a:t>
            </a:r>
            <a:r>
              <a:rPr lang="es-CL" sz="3200" dirty="0" smtClean="0"/>
              <a:t>/</a:t>
            </a:r>
            <a:r>
              <a:rPr lang="es-CL" sz="3200" dirty="0" err="1" smtClean="0"/>
              <a:t>Range</a:t>
            </a:r>
            <a:r>
              <a:rPr lang="es-CL" sz="3200" dirty="0" smtClean="0"/>
              <a:t>)</a:t>
            </a:r>
            <a:endParaRPr lang="es-CL" sz="3200" dirty="0"/>
          </a:p>
        </p:txBody>
      </p:sp>
      <p:pic>
        <p:nvPicPr>
          <p:cNvPr id="12" name="Marcador de contenido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540" y="1434987"/>
            <a:ext cx="10244714" cy="43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632204" y="438647"/>
            <a:ext cx="8878824" cy="1069848"/>
          </a:xfrm>
        </p:spPr>
        <p:txBody>
          <a:bodyPr/>
          <a:lstStyle/>
          <a:p>
            <a:pPr algn="ctr"/>
            <a:r>
              <a:rPr lang="es-CL" dirty="0" err="1"/>
              <a:t>Future</a:t>
            </a:r>
            <a:r>
              <a:rPr lang="es-CL" dirty="0"/>
              <a:t> </a:t>
            </a:r>
            <a:r>
              <a:rPr lang="es-CL" dirty="0" err="1"/>
              <a:t>with</a:t>
            </a:r>
            <a:r>
              <a:rPr lang="es-CL" dirty="0"/>
              <a:t> Machine </a:t>
            </a:r>
            <a:r>
              <a:rPr lang="es-CL" dirty="0" err="1"/>
              <a:t>Learning</a:t>
            </a:r>
            <a:endParaRPr lang="es-CL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/>
          <a:lstStyle/>
          <a:p>
            <a:r>
              <a:rPr lang="es-CL" sz="1200" b="1" dirty="0" err="1">
                <a:solidFill>
                  <a:schemeClr val="bg1"/>
                </a:solidFill>
              </a:rPr>
              <a:t>Awaken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Tech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Research</a:t>
            </a:r>
            <a:r>
              <a:rPr lang="es-CL" sz="1200" b="1" dirty="0">
                <a:solidFill>
                  <a:schemeClr val="bg1"/>
                </a:solidFill>
              </a:rPr>
              <a:t> Team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8217408" cy="323681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Goal</a:t>
            </a:r>
            <a:r>
              <a:rPr lang="en-US" b="0" dirty="0"/>
              <a:t>: Apply ML to evaluate market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Benefits</a:t>
            </a:r>
            <a:r>
              <a:rPr lang="en-US" b="0" dirty="0"/>
              <a:t>: Predict trends and identify opportunities.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Status</a:t>
            </a:r>
            <a:r>
              <a:rPr lang="en-US" b="0" dirty="0"/>
              <a:t>: In development—stay tuned for updates!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1245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36192" y="272716"/>
            <a:ext cx="9083682" cy="1629236"/>
          </a:xfrm>
        </p:spPr>
        <p:txBody>
          <a:bodyPr/>
          <a:lstStyle/>
          <a:p>
            <a:r>
              <a:rPr lang="en-US" sz="3600" dirty="0"/>
              <a:t>What Makes Graphic Crypto Screener Unique</a:t>
            </a:r>
            <a:r>
              <a:rPr lang="en-US" sz="3600" dirty="0" smtClean="0"/>
              <a:t>?</a:t>
            </a:r>
            <a:endParaRPr lang="es-CL" sz="36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536191" y="2212848"/>
            <a:ext cx="9244103" cy="3305636"/>
          </a:xfrm>
        </p:spPr>
        <p:txBody>
          <a:bodyPr/>
          <a:lstStyle/>
          <a:p>
            <a:r>
              <a:rPr lang="en-US" sz="2000" b="1" dirty="0" smtClean="0"/>
              <a:t>Scalability</a:t>
            </a:r>
            <a:r>
              <a:rPr lang="en-US" sz="2000" dirty="0"/>
              <a:t>: Monitors 120 tokens, beating Pine Script limits.</a:t>
            </a:r>
          </a:p>
          <a:p>
            <a:r>
              <a:rPr lang="en-US" sz="2000" b="1" dirty="0" smtClean="0"/>
              <a:t>Flexibility</a:t>
            </a:r>
            <a:r>
              <a:rPr lang="en-US" sz="2000" dirty="0"/>
              <a:t>: Supports multiple indicators and timeframes.</a:t>
            </a:r>
          </a:p>
          <a:p>
            <a:r>
              <a:rPr lang="es-CL" sz="2000" b="1" dirty="0" err="1" smtClean="0"/>
              <a:t>Innovation</a:t>
            </a:r>
            <a:r>
              <a:rPr lang="es-CL" sz="2000" dirty="0"/>
              <a:t>: </a:t>
            </a:r>
            <a:r>
              <a:rPr lang="es-CL" sz="2000" dirty="0" err="1"/>
              <a:t>Pioneering</a:t>
            </a:r>
            <a:r>
              <a:rPr lang="es-CL" sz="2000" dirty="0"/>
              <a:t> ML </a:t>
            </a:r>
            <a:r>
              <a:rPr lang="es-CL" sz="2000" dirty="0" err="1"/>
              <a:t>integration</a:t>
            </a:r>
            <a:r>
              <a:rPr lang="es-CL" sz="2000" dirty="0"/>
              <a:t> in </a:t>
            </a:r>
            <a:r>
              <a:rPr lang="es-CL" sz="2000" dirty="0" err="1"/>
              <a:t>progress</a:t>
            </a:r>
            <a:r>
              <a:rPr lang="es-CL" sz="2000" dirty="0"/>
              <a:t>.</a:t>
            </a:r>
          </a:p>
          <a:p>
            <a:r>
              <a:rPr lang="en-US" sz="2000" b="1" dirty="0" smtClean="0"/>
              <a:t>Community-Focused</a:t>
            </a:r>
            <a:r>
              <a:rPr lang="en-US" sz="2000" dirty="0"/>
              <a:t>: Built with trader feedback.</a:t>
            </a:r>
            <a:endParaRPr lang="en-US" sz="2000" dirty="0" smtClean="0"/>
          </a:p>
          <a:p>
            <a:pPr marL="0" indent="0">
              <a:buNone/>
            </a:pPr>
            <a:r>
              <a:rPr lang="en-US" i="1" dirty="0" smtClean="0"/>
              <a:t>“A </a:t>
            </a:r>
            <a:r>
              <a:rPr lang="en-US" i="1" dirty="0"/>
              <a:t>game-changer for crypto tracking!” — Anonymous Trader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4046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Join</a:t>
            </a:r>
            <a:r>
              <a:rPr lang="es-CL" dirty="0"/>
              <a:t> </a:t>
            </a:r>
            <a:r>
              <a:rPr lang="es-CL" dirty="0" err="1"/>
              <a:t>Our</a:t>
            </a:r>
            <a:r>
              <a:rPr lang="es-CL" dirty="0"/>
              <a:t> </a:t>
            </a:r>
            <a:r>
              <a:rPr lang="es-CL" dirty="0" err="1"/>
              <a:t>Community</a:t>
            </a:r>
            <a:endParaRPr lang="es-CL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536191" y="2212848"/>
            <a:ext cx="9548903" cy="3282696"/>
          </a:xfrm>
        </p:spPr>
        <p:txBody>
          <a:bodyPr/>
          <a:lstStyle/>
          <a:p>
            <a:r>
              <a:rPr lang="en-US" dirty="0"/>
              <a:t>Explore Shark Radar at www</a:t>
            </a:r>
            <a:r>
              <a:rPr lang="en-US" dirty="0" smtClean="0"/>
              <a:t>.</a:t>
            </a:r>
            <a:r>
              <a:rPr lang="es-CL" dirty="0"/>
              <a:t> </a:t>
            </a:r>
            <a:r>
              <a:rPr lang="es-CL" dirty="0" err="1"/>
              <a:t>awakentech.ai</a:t>
            </a:r>
            <a:r>
              <a:rPr lang="en-US" dirty="0" smtClean="0"/>
              <a:t>.</a:t>
            </a:r>
            <a:endParaRPr lang="en-US" dirty="0"/>
          </a:p>
          <a:p>
            <a:r>
              <a:rPr lang="es-CL" dirty="0" err="1" smtClean="0"/>
              <a:t>Join</a:t>
            </a:r>
            <a:r>
              <a:rPr lang="es-CL" dirty="0" smtClean="0"/>
              <a:t> </a:t>
            </a:r>
            <a:r>
              <a:rPr lang="es-CL" dirty="0" err="1"/>
              <a:t>our</a:t>
            </a:r>
            <a:r>
              <a:rPr lang="es-CL" dirty="0"/>
              <a:t> </a:t>
            </a:r>
            <a:r>
              <a:rPr lang="es-CL" dirty="0" err="1"/>
              <a:t>community</a:t>
            </a:r>
            <a:r>
              <a:rPr lang="es-CL" dirty="0"/>
              <a:t>: </a:t>
            </a:r>
            <a:r>
              <a:rPr lang="es-CL" dirty="0" err="1" smtClean="0"/>
              <a:t>www.awakentech.ai</a:t>
            </a:r>
            <a:r>
              <a:rPr lang="es-CL" dirty="0" smtClean="0"/>
              <a:t>/</a:t>
            </a:r>
            <a:r>
              <a:rPr lang="es-CL" dirty="0" err="1" smtClean="0"/>
              <a:t>community</a:t>
            </a:r>
            <a:r>
              <a:rPr lang="es-CL" dirty="0"/>
              <a:t>.</a:t>
            </a:r>
          </a:p>
          <a:p>
            <a:r>
              <a:rPr lang="en-US" dirty="0" smtClean="0"/>
              <a:t>Follow </a:t>
            </a:r>
            <a:r>
              <a:rPr lang="en-US" dirty="0"/>
              <a:t>us on X: https://</a:t>
            </a:r>
            <a:r>
              <a:rPr lang="en-US" dirty="0" err="1"/>
              <a:t>x.com</a:t>
            </a:r>
            <a:r>
              <a:rPr lang="en-US" dirty="0"/>
              <a:t>/</a:t>
            </a:r>
            <a:r>
              <a:rPr lang="en-US" dirty="0" err="1"/>
              <a:t>AwakenTechRes</a:t>
            </a:r>
            <a:r>
              <a:rPr lang="en-US" dirty="0"/>
              <a:t>.</a:t>
            </a:r>
          </a:p>
          <a:p>
            <a:r>
              <a:rPr lang="en-US" dirty="0" smtClean="0"/>
              <a:t>Sign </a:t>
            </a:r>
            <a:r>
              <a:rPr lang="en-US" dirty="0"/>
              <a:t>up for a free webinar to see Shark Radar live.</a:t>
            </a:r>
            <a:endParaRPr lang="es-CL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/>
          <a:lstStyle/>
          <a:p>
            <a:r>
              <a:rPr lang="es-CL" sz="1200" b="1" dirty="0" err="1">
                <a:solidFill>
                  <a:schemeClr val="bg1"/>
                </a:solidFill>
              </a:rPr>
              <a:t>Awaken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Tech</a:t>
            </a:r>
            <a:r>
              <a:rPr lang="es-CL" sz="1200" b="1" dirty="0">
                <a:solidFill>
                  <a:schemeClr val="bg1"/>
                </a:solidFill>
              </a:rPr>
              <a:t> </a:t>
            </a:r>
            <a:r>
              <a:rPr lang="es-CL" sz="1200" b="1" dirty="0" err="1">
                <a:solidFill>
                  <a:schemeClr val="bg1"/>
                </a:solidFill>
              </a:rPr>
              <a:t>Research</a:t>
            </a:r>
            <a:r>
              <a:rPr lang="es-CL" sz="1200" b="1" dirty="0">
                <a:solidFill>
                  <a:schemeClr val="bg1"/>
                </a:solidFill>
              </a:rPr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333338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119" y="1278716"/>
            <a:ext cx="4718304" cy="1069848"/>
          </a:xfrm>
        </p:spPr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0444" y="3855399"/>
            <a:ext cx="9835254" cy="2395728"/>
          </a:xfrm>
        </p:spPr>
        <p:txBody>
          <a:bodyPr/>
          <a:lstStyle/>
          <a:p>
            <a:pPr algn="ctr"/>
            <a:r>
              <a:rPr lang="en-US" b="1" dirty="0"/>
              <a:t>Awaken Tech Research: Empowering </a:t>
            </a:r>
            <a:r>
              <a:rPr lang="en-US" b="1" dirty="0" smtClean="0"/>
              <a:t>Traders</a:t>
            </a:r>
          </a:p>
          <a:p>
            <a:pPr algn="ctr"/>
            <a:r>
              <a:rPr lang="es-CL" dirty="0" err="1" smtClean="0"/>
              <a:t>www.awakentech.ai</a:t>
            </a:r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pPr algn="ctr"/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info@</a:t>
            </a:r>
            <a:r>
              <a:rPr lang="es-CL" dirty="0" err="1"/>
              <a:t>awakentech.ai</a:t>
            </a:r>
            <a:endParaRPr lang="en-US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4A3FD6-E6BF-490E-B6B4-6A011394B0EB}">
  <ds:schemaRefs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230e9df3-be65-4c73-a93b-d1236ebd677e"/>
    <ds:schemaRef ds:uri="16c05727-aa75-4e4a-9b5f-8a80a1165891"/>
    <ds:schemaRef ds:uri="http://purl.org/dc/dcmitype/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630</Words>
  <Application>Microsoft Office PowerPoint</Application>
  <PresentationFormat>Panorámica</PresentationFormat>
  <Paragraphs>96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LMSans10-Regular-Identity-H</vt:lpstr>
      <vt:lpstr>Segoe UI</vt:lpstr>
      <vt:lpstr>Segoe UI Light</vt:lpstr>
      <vt:lpstr>Tw Cen MT</vt:lpstr>
      <vt:lpstr>Office Theme</vt:lpstr>
      <vt:lpstr>Graphic Crypto Screener  for tradingview  Revolutionizing Crypto   Market Analysis</vt:lpstr>
      <vt:lpstr>Agenda</vt:lpstr>
      <vt:lpstr>The Challenge in Crypto Trading</vt:lpstr>
      <vt:lpstr>Introducing Graphic Crypto Screener</vt:lpstr>
      <vt:lpstr>Graphic Crypto Screener</vt:lpstr>
      <vt:lpstr>Key Features</vt:lpstr>
      <vt:lpstr>Benefits for Traders</vt:lpstr>
      <vt:lpstr>How It Works</vt:lpstr>
      <vt:lpstr>Customization Options</vt:lpstr>
      <vt:lpstr>Advanced Visualizations</vt:lpstr>
      <vt:lpstr>Synchronized Block Movements Detected via RSI (15min TF)</vt:lpstr>
      <vt:lpstr>Advanced Visualizations  Stochastic Oscillator</vt:lpstr>
      <vt:lpstr>Advanced Visualizations: Volatility (ATR/Range)</vt:lpstr>
      <vt:lpstr>Future with Machine Learning</vt:lpstr>
      <vt:lpstr>What Makes Graphic Crypto Screener Unique?</vt:lpstr>
      <vt:lpstr>Join Our Community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2022-10-27T00:37:19Z</dcterms:created>
  <dcterms:modified xsi:type="dcterms:W3CDTF">2025-07-21T15:44:03Z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